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handoutMasterIdLst>
    <p:handoutMasterId r:id="rId18"/>
  </p:handoutMasterIdLst>
  <p:sldIdLst>
    <p:sldId id="260" r:id="rId2"/>
    <p:sldId id="265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6" r:id="rId11"/>
    <p:sldId id="329" r:id="rId12"/>
    <p:sldId id="330" r:id="rId13"/>
    <p:sldId id="331" r:id="rId14"/>
    <p:sldId id="332" r:id="rId15"/>
    <p:sldId id="307" r:id="rId1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99FF66"/>
    <a:srgbClr val="FF9933"/>
    <a:srgbClr val="FFCC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691" y="-91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pPr/>
              <a:t>9/16/2025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pPr/>
              <a:t>9/16/2025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xmlns="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36274-F2B9-4C45-BBB4-0EDF4CD651A7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77701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BC4B6-7745-4B55-90CF-5017DF9694BC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07501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2"/>
              </a:buClr>
              <a:defRPr/>
            </a:lvl2pPr>
            <a:lvl5pPr>
              <a:defRPr/>
            </a:lvl5pPr>
            <a:lvl6pPr>
              <a:buClr>
                <a:schemeClr val="accent2"/>
              </a:buClr>
              <a:defRPr baseline="0"/>
            </a:lvl6pPr>
            <a:lvl7pPr>
              <a:buClr>
                <a:schemeClr val="accent2"/>
              </a:buClr>
              <a:defRPr baseline="0"/>
            </a:lvl7pPr>
            <a:lvl8pPr>
              <a:buClr>
                <a:schemeClr val="accent2"/>
              </a:buClr>
              <a:defRPr baseline="0"/>
            </a:lvl8pPr>
            <a:lvl9pPr>
              <a:buClr>
                <a:schemeClr val="accent2"/>
              </a:buCl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249C-1531-4097-8CB9-841D239B3E90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36337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F8C75-9B32-40C2-B3B1-0D1A5C9EEA83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91654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1A85B-DEBA-49BE-AF95-38466D74F03E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3154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319C0-7E53-4657-B5F3-CCC9CCE6121F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12924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A8F0E-0F02-4DD5-BDA6-8A49245C4EA7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36569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9BF3-3791-4960-BD3C-71879830164C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65258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32552-3D08-4907-A8D4-B06888BE1A3D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13643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03812" y="457200"/>
            <a:ext cx="6629400" cy="594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3773852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6161D-DC54-4C7D-99F9-192DD79EE1DF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73316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E9DA-8FFF-4CD7-ADF0-485683679E2E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87540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-1" y="0"/>
            <a:ext cx="12188825" cy="6858000"/>
            <a:chOff x="-1" y="0"/>
            <a:chExt cx="12188825" cy="6858000"/>
          </a:xfrm>
        </p:grpSpPr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4164514" y="6705600"/>
              <a:ext cx="8024310" cy="152400"/>
            </a:xfrm>
            <a:prstGeom prst="rect">
              <a:avLst/>
            </a:prstGeom>
            <a:gradFill rotWithShape="0"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1680956" y="1981200"/>
              <a:ext cx="507868" cy="4267200"/>
            </a:xfrm>
            <a:prstGeom prst="rect">
              <a:avLst/>
            </a:prstGeom>
            <a:gradFill rotWithShape="0">
              <a:gsLst>
                <a:gs pos="0">
                  <a:schemeClr val="tx2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-1" y="5257800"/>
              <a:ext cx="609441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-1" y="5410200"/>
              <a:ext cx="609441" cy="1447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1680956" y="0"/>
              <a:ext cx="507868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618015" y="0"/>
              <a:ext cx="4062942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609440" y="304800"/>
              <a:ext cx="711015" cy="762000"/>
            </a:xfrm>
            <a:prstGeom prst="rect">
              <a:avLst/>
            </a:prstGeom>
            <a:solidFill>
              <a:schemeClr val="bg2">
                <a:lumMod val="50000"/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-1" y="1066800"/>
              <a:ext cx="609441" cy="4191000"/>
            </a:xfrm>
            <a:prstGeom prst="rect">
              <a:avLst/>
            </a:prstGeom>
            <a:gradFill rotWithShape="0">
              <a:gsLst>
                <a:gs pos="0">
                  <a:schemeClr val="bg2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-1" y="304800"/>
              <a:ext cx="609441" cy="762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-1" y="0"/>
              <a:ext cx="1320456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320455" y="0"/>
              <a:ext cx="629756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400">
                <a:latin typeface="굴림" pitchFamily="50" charset="-127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V="1">
              <a:off x="609440" y="304800"/>
              <a:ext cx="0" cy="6553200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609440" y="6705600"/>
              <a:ext cx="11579384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11680956" y="0"/>
              <a:ext cx="0" cy="670560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-1" y="304800"/>
              <a:ext cx="12188825" cy="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7618015" y="457200"/>
              <a:ext cx="4570809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7618015" y="0"/>
              <a:ext cx="0" cy="4572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11680956" y="1981200"/>
              <a:ext cx="5078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320455" y="0"/>
              <a:ext cx="0" cy="10668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-1" y="1066800"/>
              <a:ext cx="1320456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H="1">
              <a:off x="-1" y="5257800"/>
              <a:ext cx="609441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-1" y="5410200"/>
              <a:ext cx="6094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Web Technologies Project PPT 2025-26 Odd Sem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2E9CDA2-BFB4-442D-A56B-771C74931134}" type="datetime1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7452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Clr>
          <a:schemeClr val="accent2"/>
        </a:buClr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team.net/top-10-weather-forecasting-system-powerpoint-presentation-templates" TargetMode="External"/><Relationship Id="rId2" Type="http://schemas.openxmlformats.org/officeDocument/2006/relationships/hyperlink" Target="https://www.slideshare.net/slideshow/weather-forecast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lidesgo.com/theme/weather-forecasting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32284" y="824636"/>
            <a:ext cx="96012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latin typeface="Arial" pitchFamily="34" charset="0"/>
                <a:cs typeface="Arial" pitchFamily="34" charset="0"/>
              </a:rPr>
              <a:t>Weather App</a:t>
            </a:r>
            <a:r>
              <a:rPr lang="en-US" dirty="0">
                <a:latin typeface="Arial" pitchFamily="34" charset="0"/>
                <a:cs typeface="Arial" pitchFamily="34" charset="0"/>
              </a:rPr>
              <a:t/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dirty="0">
                <a:latin typeface="Arial" pitchFamily="34" charset="0"/>
                <a:cs typeface="Arial" pitchFamily="34" charset="0"/>
              </a:rPr>
              <a:t>(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MICSE0555/BCSE0555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/BCSEH0555</a:t>
            </a:r>
            <a:r>
              <a:rPr lang="en-US" dirty="0"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93812" y="1354621"/>
            <a:ext cx="9601200" cy="4107243"/>
          </a:xfrm>
        </p:spPr>
        <p:txBody>
          <a:bodyPr>
            <a:normAutofit lnSpcReduction="10000"/>
          </a:bodyPr>
          <a:lstStyle/>
          <a:p>
            <a:pPr marL="0" lvl="0" indent="0" algn="ctr">
              <a:buNone/>
            </a:pP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0" lvl="0" indent="0" algn="ctr">
              <a:buNone/>
            </a:pP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0" lvl="0" indent="0" algn="ctr">
              <a:buNone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Department of Information Technology</a:t>
            </a:r>
          </a:p>
          <a:p>
            <a:pPr marL="0" lvl="0" indent="0" algn="ctr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(Submitted To: 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Mr. </a:t>
            </a:r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Ankur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Chaudhary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)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marL="0" lv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endParaRPr lang="en-US" dirty="0"/>
          </a:p>
          <a:p>
            <a:pPr marL="0" lvl="0" indent="0" algn="ctr">
              <a:buNone/>
            </a:pPr>
            <a:r>
              <a:rPr lang="en-US" dirty="0"/>
              <a:t>Group Members</a:t>
            </a:r>
          </a:p>
          <a:p>
            <a:pPr marL="0" lvl="0" indent="0" algn="ctr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B8D35DFE-0D21-4638-83BD-6EE30128D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24146967"/>
              </p:ext>
            </p:extLst>
          </p:nvPr>
        </p:nvGraphicFramePr>
        <p:xfrm>
          <a:off x="1921160" y="3315396"/>
          <a:ext cx="8346504" cy="199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992">
                  <a:extLst>
                    <a:ext uri="{9D8B030D-6E8A-4147-A177-3AD203B41FA5}">
                      <a16:colId xmlns:a16="http://schemas.microsoft.com/office/drawing/2014/main" xmlns="" val="1489308670"/>
                    </a:ext>
                  </a:extLst>
                </a:gridCol>
                <a:gridCol w="2012984">
                  <a:extLst>
                    <a:ext uri="{9D8B030D-6E8A-4147-A177-3AD203B41FA5}">
                      <a16:colId xmlns:a16="http://schemas.microsoft.com/office/drawing/2014/main" xmlns="" val="3062725700"/>
                    </a:ext>
                  </a:extLst>
                </a:gridCol>
                <a:gridCol w="2779338">
                  <a:extLst>
                    <a:ext uri="{9D8B030D-6E8A-4147-A177-3AD203B41FA5}">
                      <a16:colId xmlns:a16="http://schemas.microsoft.com/office/drawing/2014/main" xmlns="" val="985814749"/>
                    </a:ext>
                  </a:extLst>
                </a:gridCol>
                <a:gridCol w="1973190">
                  <a:extLst>
                    <a:ext uri="{9D8B030D-6E8A-4147-A177-3AD203B41FA5}">
                      <a16:colId xmlns:a16="http://schemas.microsoft.com/office/drawing/2014/main" xmlns="" val="2731764778"/>
                    </a:ext>
                  </a:extLst>
                </a:gridCol>
              </a:tblGrid>
              <a:tr h="37624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Name of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itchFamily="34" charset="0"/>
                          <a:cs typeface="Arial" pitchFamily="34" charset="0"/>
                        </a:rPr>
                        <a:t>Roll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itchFamily="34" charset="0"/>
                          <a:cs typeface="Arial" pitchFamily="34" charset="0"/>
                        </a:rP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" pitchFamily="34" charset="0"/>
                          <a:cs typeface="Arial" pitchFamily="34" charset="0"/>
                        </a:rPr>
                        <a:t>Department n Section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48739875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latin typeface="Arial" pitchFamily="34" charset="0"/>
                          <a:cs typeface="Arial" pitchFamily="34" charset="0"/>
                        </a:rPr>
                        <a:t>Vaibhav</a:t>
                      </a:r>
                      <a:r>
                        <a:rPr lang="en-US" sz="14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Arial" pitchFamily="34" charset="0"/>
                          <a:cs typeface="Arial" pitchFamily="34" charset="0"/>
                        </a:rPr>
                        <a:t>Agrawal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2301330130197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Arial" pitchFamily="34" charset="0"/>
                          <a:cs typeface="Arial" pitchFamily="34" charset="0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IT </a:t>
                      </a: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‘C’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74639081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latin typeface="Arial" pitchFamily="34" charset="0"/>
                          <a:cs typeface="Arial" pitchFamily="34" charset="0"/>
                        </a:rPr>
                        <a:t>Simal</a:t>
                      </a:r>
                      <a:r>
                        <a:rPr lang="en-US" sz="14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Arial" pitchFamily="34" charset="0"/>
                          <a:cs typeface="Arial" pitchFamily="34" charset="0"/>
                        </a:rPr>
                        <a:t>Agrahari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2301330130182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IT </a:t>
                      </a: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‘C’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33880534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latin typeface="Arial" pitchFamily="34" charset="0"/>
                          <a:cs typeface="Arial" pitchFamily="34" charset="0"/>
                        </a:rPr>
                        <a:t>Sparsh</a:t>
                      </a:r>
                      <a:r>
                        <a:rPr lang="en-US" sz="14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Arial" pitchFamily="34" charset="0"/>
                          <a:cs typeface="Arial" pitchFamily="34" charset="0"/>
                        </a:rPr>
                        <a:t>Rawat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2301330130184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itchFamily="34" charset="0"/>
                          <a:cs typeface="Arial" pitchFamily="34" charset="0"/>
                        </a:rPr>
                        <a:t>IT </a:t>
                      </a: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‘C’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19938205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latin typeface="Arial" pitchFamily="34" charset="0"/>
                          <a:cs typeface="Arial" pitchFamily="34" charset="0"/>
                        </a:rPr>
                        <a:t>Vikash</a:t>
                      </a:r>
                      <a:r>
                        <a:rPr lang="en-US" sz="1400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US" sz="1400" baseline="0" dirty="0" err="1" smtClean="0">
                          <a:latin typeface="Arial" pitchFamily="34" charset="0"/>
                          <a:cs typeface="Arial" pitchFamily="34" charset="0"/>
                        </a:rPr>
                        <a:t>Giri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2301330130204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Documentation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IT ‘C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20086947"/>
                  </a:ext>
                </a:extLst>
              </a:tr>
            </a:tbl>
          </a:graphicData>
        </a:graphic>
      </p:graphicFrame>
      <p:pic>
        <p:nvPicPr>
          <p:cNvPr id="2" name="Picture 1" descr="A black and red logo&#10;&#10;Description automatically generated">
            <a:extLst>
              <a:ext uri="{FF2B5EF4-FFF2-40B4-BE49-F238E27FC236}">
                <a16:creationId xmlns:a16="http://schemas.microsoft.com/office/drawing/2014/main" xmlns="" id="{C2D30C3A-395C-C608-9DE6-FE457955FE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46740" y="738444"/>
            <a:ext cx="2209800" cy="94726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DF07BBA-293C-9928-F41B-009D80BCD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85996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4DEE56-5ACD-47A3-8DAE-BAA09301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34" charset="0"/>
                <a:cs typeface="Arial" pitchFamily="34" charset="0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D05BA36-30B6-42D8-82C9-C62A3F36F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/>
          </a:p>
          <a:p>
            <a:r>
              <a:rPr lang="en-US">
                <a:latin typeface="Arial" pitchFamily="34" charset="0"/>
                <a:cs typeface="Arial" pitchFamily="34" charset="0"/>
              </a:rPr>
              <a:t>Introduction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Literature Survey/Existing System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Problem Statement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Proposed Methodology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Flowcharts and Use Case/ER Diagrams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Feasibility Study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Hardware /Software Requirement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Results and Conclusion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References</a:t>
            </a:r>
          </a:p>
          <a:p>
            <a:r>
              <a:rPr lang="en-US">
                <a:latin typeface="Arial" pitchFamily="34" charset="0"/>
                <a:cs typeface="Arial" pitchFamily="34" charset="0"/>
              </a:rPr>
              <a:t>Live Demonstration of Project with screenshots in ppt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7647FDC-4C42-4481-9FE6-05DF8CFF7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555672" y="628650"/>
            <a:ext cx="2720340" cy="22669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FF969DE-A499-6371-67BC-7727378CC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xmlns="" val="1083614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33BA430-BAD9-FBE2-C508-F9B9BDB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2" name="Rectangle 1"/>
          <p:cNvSpPr/>
          <p:nvPr/>
        </p:nvSpPr>
        <p:spPr>
          <a:xfrm>
            <a:off x="772604" y="585231"/>
            <a:ext cx="10643616" cy="1478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  <a:p>
            <a:pPr>
              <a:lnSpc>
                <a:spcPct val="150000"/>
              </a:lnSpc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96155F61-2FC9-2729-35AA-AEB8A309E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994" y="1431617"/>
            <a:ext cx="10074728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smtClean="0"/>
              <a:t>Objective:</a:t>
            </a:r>
            <a:r>
              <a:rPr lang="en-US" sz="2000" dirty="0" smtClean="0"/>
              <a:t> Build a user-friendly platform for real-time, accurate weather updates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r>
              <a:rPr lang="en-US" sz="2000" b="1" dirty="0" smtClean="0"/>
              <a:t>User Interface:</a:t>
            </a:r>
            <a:endParaRPr lang="en-US" sz="2000" dirty="0" smtClean="0"/>
          </a:p>
          <a:p>
            <a:r>
              <a:rPr lang="en-US" sz="2000" dirty="0" smtClean="0"/>
              <a:t>Simple, intuitive front-end (HTML, CSS, JavaScript).</a:t>
            </a:r>
          </a:p>
          <a:p>
            <a:r>
              <a:rPr lang="en-US" sz="2000" dirty="0" smtClean="0"/>
              <a:t>Search by city name or auto-detect current location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r>
              <a:rPr lang="en-US" sz="2000" b="1" dirty="0" smtClean="0"/>
              <a:t>Data Retrieval:</a:t>
            </a:r>
            <a:endParaRPr lang="en-US" sz="2000" dirty="0" smtClean="0"/>
          </a:p>
          <a:p>
            <a:r>
              <a:rPr lang="en-US" sz="2000" dirty="0" smtClean="0"/>
              <a:t>Asynchronous API calls (e.g., </a:t>
            </a:r>
            <a:r>
              <a:rPr lang="en-US" sz="2000" dirty="0" err="1" smtClean="0"/>
              <a:t>OpenWeather</a:t>
            </a:r>
            <a:r>
              <a:rPr lang="en-US" sz="2000" dirty="0" smtClean="0"/>
              <a:t> API).</a:t>
            </a:r>
          </a:p>
          <a:p>
            <a:r>
              <a:rPr lang="en-US" sz="2000" dirty="0" smtClean="0"/>
              <a:t>Fetch key metrics: temperature, humidity, wind speed, weather description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r>
              <a:rPr lang="en-US" sz="2000" b="1" dirty="0" smtClean="0"/>
              <a:t>Real-Time Display:</a:t>
            </a:r>
            <a:endParaRPr lang="en-US" sz="2000" dirty="0" smtClean="0"/>
          </a:p>
          <a:p>
            <a:r>
              <a:rPr lang="en-US" sz="2000" dirty="0" smtClean="0"/>
              <a:t>Dynamic rendering without page reload.</a:t>
            </a:r>
          </a:p>
          <a:p>
            <a:r>
              <a:rPr lang="en-US" sz="2000" dirty="0" smtClean="0"/>
              <a:t>Weather icons &amp; multi-day forecasts for enhanced usability.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9002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33BA430-BAD9-FBE2-C508-F9B9BDB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2" name="Rectangle 1"/>
          <p:cNvSpPr/>
          <p:nvPr/>
        </p:nvSpPr>
        <p:spPr>
          <a:xfrm>
            <a:off x="4807186" y="412751"/>
            <a:ext cx="2574451" cy="739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1CD0FD05-DC7A-F1CE-C1CE-278D5965D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79" y="1209625"/>
            <a:ext cx="10000335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for a weather forecast system project in web development should set the stage by defining the problem, stating the project's purpose, and outlining the solution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About Weather App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is a crucial factor in daily life, influencing everything from personal travel plans to agricultural and business operations. The need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timely, accurate, and easily accessible weather information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universal. While numerous weather services exist, they are often scattered across different platforms, lack a unified user experience, or are cluttered with excessive information.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5794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33BA430-BAD9-FBE2-C508-F9B9BDB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2" name="Rectangle 1"/>
          <p:cNvSpPr/>
          <p:nvPr/>
        </p:nvSpPr>
        <p:spPr>
          <a:xfrm>
            <a:off x="4046017" y="412751"/>
            <a:ext cx="4096789" cy="739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ProblemStatement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E5C30448-8A79-73C2-CE96-B3521B71C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313" y="1181679"/>
            <a:ext cx="10466615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smtClean="0"/>
              <a:t>Problem Statement</a:t>
            </a:r>
          </a:p>
          <a:p>
            <a:endParaRPr lang="en-US" sz="2000" b="1" dirty="0" smtClean="0"/>
          </a:p>
          <a:p>
            <a:r>
              <a:rPr lang="en-US" sz="2000" dirty="0" smtClean="0"/>
              <a:t>Weather apps are often complex, cluttered with ads, or fragmented across multiple platforms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r>
              <a:rPr lang="en-US" sz="2000" dirty="0" smtClean="0"/>
              <a:t>Users struggle to get accurate, real-time weather data quickly and easily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b="1" dirty="0" smtClean="0"/>
              <a:t>Need/Gap</a:t>
            </a:r>
          </a:p>
          <a:p>
            <a:endParaRPr lang="en-US" sz="2000" b="1" dirty="0" smtClean="0"/>
          </a:p>
          <a:p>
            <a:r>
              <a:rPr lang="en-US" sz="2000" dirty="0" smtClean="0"/>
              <a:t>A </a:t>
            </a:r>
            <a:r>
              <a:rPr lang="en-US" sz="2000" b="1" dirty="0" smtClean="0"/>
              <a:t>simple, reliable, and user-friendly web app</a:t>
            </a:r>
            <a:r>
              <a:rPr lang="en-US" sz="2000" dirty="0" smtClean="0"/>
              <a:t> that delivers weather forecasts at a glance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r>
              <a:rPr lang="en-US" sz="2000" dirty="0" smtClean="0"/>
              <a:t>Focus on </a:t>
            </a:r>
            <a:r>
              <a:rPr lang="en-US" sz="2000" b="1" dirty="0" smtClean="0"/>
              <a:t>accuracy, accessibility, and seamless user experience</a:t>
            </a:r>
            <a:r>
              <a:rPr lang="en-US" sz="2000" dirty="0" smtClean="0"/>
              <a:t> without unnecessary distractions.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11665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33BA430-BAD9-FBE2-C508-F9B9BDB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2" name="Rectangle 1"/>
          <p:cNvSpPr/>
          <p:nvPr/>
        </p:nvSpPr>
        <p:spPr>
          <a:xfrm>
            <a:off x="4930529" y="412751"/>
            <a:ext cx="2327766" cy="739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67668572-466F-F6CA-95C9-DC1D8FB5F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2464" y="920621"/>
            <a:ext cx="10204768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User-Friendly </a:t>
            </a:r>
            <a:r>
              <a:rPr lang="en-US" b="1" dirty="0" smtClean="0"/>
              <a:t>Interface</a:t>
            </a:r>
            <a:r>
              <a:rPr lang="en-US" dirty="0" smtClean="0"/>
              <a:t>: Simple, clean, and clutter-free design for easy navigation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 smtClean="0"/>
              <a:t>Real-Time Data</a:t>
            </a:r>
            <a:r>
              <a:rPr lang="en-US" dirty="0" smtClean="0"/>
              <a:t>: Display accurate, up-to-date weather details (temperature, humidity, wind speed, conditions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r>
              <a:rPr lang="en-US" b="1" dirty="0" smtClean="0"/>
              <a:t>Key </a:t>
            </a:r>
            <a:r>
              <a:rPr lang="en-US" b="1" dirty="0" smtClean="0"/>
              <a:t>Features</a:t>
            </a:r>
          </a:p>
          <a:p>
            <a:endParaRPr lang="en-US" b="1" dirty="0" smtClean="0"/>
          </a:p>
          <a:p>
            <a:r>
              <a:rPr lang="en-US" b="1" dirty="0" smtClean="0"/>
              <a:t>Reliable API Integration</a:t>
            </a:r>
            <a:r>
              <a:rPr lang="en-US" dirty="0" smtClean="0"/>
              <a:t>: Connect with trusted weather APIs (e.g., </a:t>
            </a:r>
            <a:r>
              <a:rPr lang="en-US" dirty="0" err="1" smtClean="0"/>
              <a:t>OpenWeatherMap</a:t>
            </a:r>
            <a:r>
              <a:rPr lang="en-US" dirty="0" smtClean="0"/>
              <a:t>, </a:t>
            </a:r>
            <a:r>
              <a:rPr lang="en-US" dirty="0" err="1" smtClean="0"/>
              <a:t>WeatherAPI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r>
              <a:rPr lang="en-US" b="1" dirty="0" smtClean="0"/>
              <a:t>Search &amp; Location Detection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Search weather by city</a:t>
            </a:r>
            <a:r>
              <a:rPr lang="en-US" dirty="0" smtClean="0"/>
              <a:t>.</a:t>
            </a:r>
            <a:endParaRPr lang="en-US" dirty="0" smtClean="0"/>
          </a:p>
          <a:p>
            <a:pPr lvl="1"/>
            <a:r>
              <a:rPr lang="en-US" dirty="0" smtClean="0"/>
              <a:t>Auto-detect user location for personalized forecasts.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3850974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33BA430-BAD9-FBE2-C508-F9B9BDB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2" name="Rectangle 1"/>
          <p:cNvSpPr/>
          <p:nvPr/>
        </p:nvSpPr>
        <p:spPr>
          <a:xfrm>
            <a:off x="2388459" y="412751"/>
            <a:ext cx="7411905" cy="739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 / Existing System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BB3A068B-000B-1F5B-8EFB-2D1F190BF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587" y="1318850"/>
            <a:ext cx="1033272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Numerical </a:t>
            </a:r>
            <a:r>
              <a:rPr lang="en-US" b="1" dirty="0" smtClean="0"/>
              <a:t>Weather Prediction (NWP</a:t>
            </a:r>
            <a:r>
              <a:rPr lang="en-US" b="1" dirty="0" smtClean="0"/>
              <a:t>):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Supercomputer-based, highly accurate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Resource-intensive and complex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r>
              <a:rPr lang="en-US" b="1" dirty="0" smtClean="0"/>
              <a:t>Machine Learning Models</a:t>
            </a:r>
            <a:r>
              <a:rPr lang="en-US" b="1" dirty="0" smtClean="0"/>
              <a:t>: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Faster, data-driven predictions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May lack physical consistency.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23584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33BA430-BAD9-FBE2-C508-F9B9BDB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2" name="Rectangle 1"/>
          <p:cNvSpPr/>
          <p:nvPr/>
        </p:nvSpPr>
        <p:spPr>
          <a:xfrm>
            <a:off x="1433877" y="746094"/>
            <a:ext cx="8146473" cy="1314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                         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System Architecture / Design</a:t>
            </a:r>
          </a:p>
          <a:p>
            <a:pPr lvl="2"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7189EE49-646B-EA1E-A2B9-62C328018B4B}"/>
              </a:ext>
            </a:extLst>
          </p:cNvPr>
          <p:cNvSpPr txBox="1"/>
          <p:nvPr/>
        </p:nvSpPr>
        <p:spPr>
          <a:xfrm>
            <a:off x="4980214" y="3815834"/>
            <a:ext cx="184731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endParaRPr lang="en-IN" dirty="0"/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xmlns="" id="{F6B43F54-6338-BD11-E457-E8A1EBE5A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845" y="1428491"/>
            <a:ext cx="1057747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sz="2000" b="1" dirty="0" smtClean="0"/>
              <a:t>User </a:t>
            </a:r>
            <a:r>
              <a:rPr lang="en-US" sz="2000" b="1" dirty="0" smtClean="0"/>
              <a:t>Input</a:t>
            </a:r>
            <a:endParaRPr lang="en-US" sz="2000" dirty="0" smtClean="0"/>
          </a:p>
          <a:p>
            <a:r>
              <a:rPr lang="en-US" sz="2000" dirty="0" smtClean="0"/>
              <a:t>User enters a city name in the search bar (HTML/CSS/JS</a:t>
            </a:r>
            <a:r>
              <a:rPr lang="en-US" sz="2000" dirty="0" smtClean="0"/>
              <a:t>).</a:t>
            </a:r>
          </a:p>
          <a:p>
            <a:endParaRPr lang="en-US" sz="2000" dirty="0" smtClean="0"/>
          </a:p>
          <a:p>
            <a:r>
              <a:rPr lang="en-US" sz="2000" b="1" dirty="0" smtClean="0"/>
              <a:t>Request Handling</a:t>
            </a:r>
            <a:endParaRPr lang="en-US" sz="2000" dirty="0" smtClean="0"/>
          </a:p>
          <a:p>
            <a:r>
              <a:rPr lang="en-US" sz="2000" dirty="0" smtClean="0"/>
              <a:t>Front-end JavaScript sends request to core logic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r>
              <a:rPr lang="en-US" sz="2000" b="1" dirty="0" smtClean="0"/>
              <a:t>API Call</a:t>
            </a:r>
            <a:endParaRPr lang="en-US" sz="2000" dirty="0" smtClean="0"/>
          </a:p>
          <a:p>
            <a:r>
              <a:rPr lang="en-US" sz="2000" dirty="0" smtClean="0"/>
              <a:t>Asynchronous request to weather API (e.g., </a:t>
            </a:r>
            <a:r>
              <a:rPr lang="en-US" sz="2000" dirty="0" err="1" smtClean="0"/>
              <a:t>OpenWeatherMap</a:t>
            </a:r>
            <a:r>
              <a:rPr lang="en-US" sz="2000" dirty="0" smtClean="0"/>
              <a:t>) using API key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r>
              <a:rPr lang="en-US" sz="2000" b="1" dirty="0" smtClean="0"/>
              <a:t>Data Retrieval</a:t>
            </a:r>
            <a:endParaRPr lang="en-US" sz="2000" dirty="0" smtClean="0"/>
          </a:p>
          <a:p>
            <a:r>
              <a:rPr lang="en-US" sz="2000" dirty="0" smtClean="0"/>
              <a:t>API returns structured JSON (temperature, humidity, wind speed, description</a:t>
            </a:r>
            <a:r>
              <a:rPr lang="en-US" sz="2000" dirty="0" smtClean="0"/>
              <a:t>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01141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33BA430-BAD9-FBE2-C508-F9B9BDB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2" name="Rectangle 1"/>
          <p:cNvSpPr/>
          <p:nvPr/>
        </p:nvSpPr>
        <p:spPr>
          <a:xfrm>
            <a:off x="4560021" y="239015"/>
            <a:ext cx="3068782" cy="735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57021487-FD07-032E-BCEE-6CBB3E0CBFAF}"/>
              </a:ext>
            </a:extLst>
          </p:cNvPr>
          <p:cNvSpPr txBox="1"/>
          <p:nvPr/>
        </p:nvSpPr>
        <p:spPr>
          <a:xfrm>
            <a:off x="4899171" y="3208681"/>
            <a:ext cx="184731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endParaRPr lang="en-IN" dirty="0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xmlns="" id="{CE93D2DA-BF08-3463-0D47-957BBBD42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99" y="1643483"/>
            <a:ext cx="1047785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 smtClean="0"/>
              <a:t>Phase 1: </a:t>
            </a:r>
            <a:r>
              <a:rPr lang="en-US" b="1" dirty="0" smtClean="0"/>
              <a:t>Planning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Define scope, select tech stack (HTML, CSS, JavaScript).</a:t>
            </a:r>
          </a:p>
          <a:p>
            <a:pPr lvl="1"/>
            <a:r>
              <a:rPr lang="en-US" dirty="0" smtClean="0"/>
              <a:t>Choose reliable weather API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r>
              <a:rPr lang="en-US" b="1" dirty="0" smtClean="0"/>
              <a:t>Phase 2: </a:t>
            </a:r>
            <a:r>
              <a:rPr lang="en-US" b="1" dirty="0" smtClean="0"/>
              <a:t>Development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Build front-end interface &amp; JS logic for API calls.</a:t>
            </a:r>
          </a:p>
          <a:p>
            <a:pPr lvl="1"/>
            <a:r>
              <a:rPr lang="en-US" dirty="0" smtClean="0"/>
              <a:t>Use </a:t>
            </a:r>
            <a:r>
              <a:rPr lang="en-US" dirty="0" err="1" smtClean="0"/>
              <a:t>Git</a:t>
            </a:r>
            <a:r>
              <a:rPr lang="en-US" dirty="0" smtClean="0"/>
              <a:t> for version control (client-side processing</a:t>
            </a:r>
            <a:r>
              <a:rPr lang="en-US" dirty="0" smtClean="0"/>
              <a:t>).</a:t>
            </a:r>
          </a:p>
          <a:p>
            <a:pPr lvl="1"/>
            <a:endParaRPr lang="en-US" dirty="0" smtClean="0"/>
          </a:p>
          <a:p>
            <a:r>
              <a:rPr lang="en-US" b="1" dirty="0" smtClean="0"/>
              <a:t>Phase 3: </a:t>
            </a:r>
            <a:r>
              <a:rPr lang="en-US" b="1" dirty="0" smtClean="0"/>
              <a:t>Testing and Deployment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Unit &amp; integration testing.</a:t>
            </a:r>
          </a:p>
          <a:p>
            <a:pPr lvl="1"/>
            <a:r>
              <a:rPr lang="en-US" dirty="0" smtClean="0"/>
              <a:t>Deploy on </a:t>
            </a:r>
            <a:r>
              <a:rPr lang="en-US" dirty="0" err="1" smtClean="0"/>
              <a:t>Netlify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2679838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33BA430-BAD9-FBE2-C508-F9B9BDB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2" name="Rectangle 1"/>
          <p:cNvSpPr/>
          <p:nvPr/>
        </p:nvSpPr>
        <p:spPr>
          <a:xfrm>
            <a:off x="2427806" y="412751"/>
            <a:ext cx="8101307" cy="739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Hardware &amp; Software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D92AEBAE-B906-72B4-77C0-68F5A102B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870" y="1554693"/>
            <a:ext cx="943660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 smtClean="0"/>
              <a:t>Hardware </a:t>
            </a:r>
            <a:r>
              <a:rPr lang="en-US" b="1" dirty="0" smtClean="0"/>
              <a:t>Requirements</a:t>
            </a:r>
          </a:p>
          <a:p>
            <a:endParaRPr lang="en-US" b="1" dirty="0" smtClean="0"/>
          </a:p>
          <a:p>
            <a:r>
              <a:rPr lang="en-US" b="1" dirty="0" smtClean="0"/>
              <a:t>Processor:</a:t>
            </a:r>
            <a:r>
              <a:rPr lang="en-US" dirty="0" smtClean="0"/>
              <a:t> Intel i3 or higher</a:t>
            </a:r>
          </a:p>
          <a:p>
            <a:r>
              <a:rPr lang="en-US" b="1" dirty="0" smtClean="0"/>
              <a:t>RAM:</a:t>
            </a:r>
            <a:r>
              <a:rPr lang="en-US" dirty="0" smtClean="0"/>
              <a:t> Minimum 4 GB (8 GB recommended)</a:t>
            </a:r>
          </a:p>
          <a:p>
            <a:r>
              <a:rPr lang="en-US" b="1" dirty="0" smtClean="0"/>
              <a:t>Storage:</a:t>
            </a:r>
            <a:r>
              <a:rPr lang="en-US" dirty="0" smtClean="0"/>
              <a:t> 500 GB HDD / 256 GB SSD</a:t>
            </a:r>
          </a:p>
          <a:p>
            <a:r>
              <a:rPr lang="en-US" b="1" dirty="0" smtClean="0"/>
              <a:t>Devices:</a:t>
            </a:r>
            <a:r>
              <a:rPr lang="en-US" dirty="0" smtClean="0"/>
              <a:t> Desktop/Laptop with keyboard &amp; </a:t>
            </a:r>
            <a:r>
              <a:rPr lang="en-US" dirty="0" smtClean="0"/>
              <a:t>mouse</a:t>
            </a:r>
          </a:p>
          <a:p>
            <a:endParaRPr lang="en-US" dirty="0" smtClean="0"/>
          </a:p>
          <a:p>
            <a:r>
              <a:rPr lang="en-US" b="1" dirty="0" smtClean="0"/>
              <a:t>Software </a:t>
            </a:r>
            <a:r>
              <a:rPr lang="en-US" b="1" dirty="0" smtClean="0"/>
              <a:t>Requirements</a:t>
            </a:r>
          </a:p>
          <a:p>
            <a:endParaRPr lang="en-US" b="1" dirty="0" smtClean="0"/>
          </a:p>
          <a:p>
            <a:r>
              <a:rPr lang="en-US" b="1" dirty="0" smtClean="0"/>
              <a:t>Operating System:</a:t>
            </a:r>
            <a:r>
              <a:rPr lang="en-US" dirty="0" smtClean="0"/>
              <a:t> Windows 10 / Linux (</a:t>
            </a:r>
            <a:r>
              <a:rPr lang="en-US" dirty="0" err="1" smtClean="0"/>
              <a:t>Ubuntu</a:t>
            </a:r>
            <a:r>
              <a:rPr lang="en-US" dirty="0" smtClean="0"/>
              <a:t>)</a:t>
            </a:r>
          </a:p>
          <a:p>
            <a:r>
              <a:rPr lang="en-US" b="1" dirty="0" smtClean="0"/>
              <a:t>Server:</a:t>
            </a:r>
            <a:r>
              <a:rPr lang="en-US" dirty="0" smtClean="0"/>
              <a:t> XAMPP (Apache + PHP + </a:t>
            </a:r>
            <a:r>
              <a:rPr lang="en-US" dirty="0" err="1" smtClean="0"/>
              <a:t>MySQL</a:t>
            </a:r>
            <a:r>
              <a:rPr lang="en-US" dirty="0" smtClean="0"/>
              <a:t>)</a:t>
            </a:r>
          </a:p>
          <a:p>
            <a:r>
              <a:rPr lang="en-US" b="1" dirty="0" smtClean="0"/>
              <a:t>Database:</a:t>
            </a:r>
            <a:r>
              <a:rPr lang="en-US" dirty="0" smtClean="0"/>
              <a:t> </a:t>
            </a:r>
            <a:r>
              <a:rPr lang="en-US" dirty="0" err="1" smtClean="0"/>
              <a:t>MySQL</a:t>
            </a:r>
            <a:r>
              <a:rPr lang="en-US" dirty="0" smtClean="0"/>
              <a:t> (</a:t>
            </a:r>
            <a:r>
              <a:rPr lang="en-US" dirty="0" err="1" smtClean="0"/>
              <a:t>erp_db</a:t>
            </a:r>
            <a:r>
              <a:rPr lang="en-US" dirty="0" smtClean="0"/>
              <a:t>)</a:t>
            </a:r>
          </a:p>
          <a:p>
            <a:r>
              <a:rPr lang="en-US" b="1" dirty="0" smtClean="0"/>
              <a:t>IDE/Editor:</a:t>
            </a:r>
            <a:r>
              <a:rPr lang="en-US" dirty="0" smtClean="0"/>
              <a:t> VS Code / Sublime Text</a:t>
            </a:r>
          </a:p>
          <a:p>
            <a:r>
              <a:rPr lang="en-US" b="1" dirty="0" smtClean="0"/>
              <a:t>Languages &amp; Frameworks:</a:t>
            </a:r>
            <a:r>
              <a:rPr lang="en-US" dirty="0" smtClean="0"/>
              <a:t> PHP, HTML, CSS (Bootstrap optional)</a:t>
            </a:r>
          </a:p>
          <a:p>
            <a:r>
              <a:rPr lang="en-US" b="1" dirty="0" smtClean="0"/>
              <a:t>Browser:</a:t>
            </a:r>
            <a:r>
              <a:rPr lang="en-US" dirty="0" smtClean="0"/>
              <a:t> Chrome / Firefox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85641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432B43-369C-4BED-D090-92059E06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            </a:t>
            </a:r>
            <a:r>
              <a:rPr lang="en-I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output/Results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C2D4119-336A-B2BE-91A8-6E49140E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73916" y="1847461"/>
            <a:ext cx="4673120" cy="3340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98769" y="1819469"/>
            <a:ext cx="5796545" cy="3368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510843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12EB54-6CEB-A2AF-16EE-FB6DCD837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59691EE-34A1-B9FE-C094-B1A180890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CA5CFB99-AF10-FDEB-B024-5B94C0E326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7929" y="2072224"/>
            <a:ext cx="9976757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 smtClean="0"/>
              <a:t>Personal Use</a:t>
            </a:r>
            <a:r>
              <a:rPr lang="en-US" dirty="0" smtClean="0"/>
              <a:t> – Plan commutes, outdoor activities, and prepare for emergencies.</a:t>
            </a:r>
          </a:p>
          <a:p>
            <a:r>
              <a:rPr lang="en-US" b="1" dirty="0" smtClean="0"/>
              <a:t>Transportation</a:t>
            </a:r>
            <a:r>
              <a:rPr lang="en-US" dirty="0" smtClean="0"/>
              <a:t> – Assist drivers, pilots, and sailors in safe &amp; efficient route planning.</a:t>
            </a:r>
          </a:p>
          <a:p>
            <a:r>
              <a:rPr lang="en-US" b="1" dirty="0" smtClean="0"/>
              <a:t>Agriculture</a:t>
            </a:r>
            <a:r>
              <a:rPr lang="en-US" dirty="0" smtClean="0"/>
              <a:t> – Support farmers in planting, irrigation, and crop protection.</a:t>
            </a:r>
          </a:p>
          <a:p>
            <a:r>
              <a:rPr lang="en-US" b="1" dirty="0" smtClean="0"/>
              <a:t>Event Planning</a:t>
            </a:r>
            <a:r>
              <a:rPr lang="en-US" dirty="0" smtClean="0"/>
              <a:t> – Enable organizers to prepare contingency plans for outdoor events.</a:t>
            </a:r>
          </a:p>
          <a:p>
            <a:r>
              <a:rPr lang="en-US" b="1" dirty="0" smtClean="0"/>
              <a:t>Energy</a:t>
            </a:r>
            <a:r>
              <a:rPr lang="en-US" dirty="0" smtClean="0"/>
              <a:t> – Help utilities forecast demand &amp; manage renewable energy sources.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89028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3B9586-6292-0D42-D439-6B61E5CCD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337457"/>
            <a:ext cx="9601200" cy="1143000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Enhancements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60D03A7-8643-722C-AD0E-BC4B29AD6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B84EDF82-0B53-DBA8-36B5-8F839743E9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7990" y="1847072"/>
            <a:ext cx="10746109" cy="431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 smtClean="0"/>
              <a:t>Future Enhancements</a:t>
            </a:r>
          </a:p>
          <a:p>
            <a:r>
              <a:rPr lang="en-US" b="1" dirty="0" smtClean="0"/>
              <a:t>Hourly &amp; Multi-Day Forecasts</a:t>
            </a:r>
            <a:endParaRPr lang="en-US" dirty="0" smtClean="0"/>
          </a:p>
          <a:p>
            <a:pPr lvl="1"/>
            <a:r>
              <a:rPr lang="en-US" dirty="0" smtClean="0"/>
              <a:t>Detailed hourly updates (24–48 hrs).</a:t>
            </a:r>
          </a:p>
          <a:p>
            <a:pPr lvl="1"/>
            <a:r>
              <a:rPr lang="en-US" dirty="0" smtClean="0"/>
              <a:t>5–7 day summary for better planning.</a:t>
            </a:r>
          </a:p>
          <a:p>
            <a:r>
              <a:rPr lang="en-US" b="1" dirty="0" smtClean="0"/>
              <a:t>Interactive Weather Maps</a:t>
            </a:r>
            <a:endParaRPr lang="en-US" dirty="0" smtClean="0"/>
          </a:p>
          <a:p>
            <a:pPr lvl="1"/>
            <a:r>
              <a:rPr lang="en-US" dirty="0" smtClean="0"/>
              <a:t>Real-time radar for precipitation, wind, cloud cover.</a:t>
            </a:r>
          </a:p>
          <a:p>
            <a:pPr lvl="1"/>
            <a:r>
              <a:rPr lang="en-US" dirty="0" smtClean="0"/>
              <a:t>Visual understanding of weather patterns.</a:t>
            </a:r>
          </a:p>
          <a:p>
            <a:r>
              <a:rPr lang="en-US" b="1" dirty="0" smtClean="0"/>
              <a:t>Severe Weather Alerts</a:t>
            </a:r>
            <a:endParaRPr lang="en-US" dirty="0" smtClean="0"/>
          </a:p>
          <a:p>
            <a:pPr lvl="1"/>
            <a:r>
              <a:rPr lang="en-US" dirty="0" smtClean="0"/>
              <a:t>Instant notifications for storms, floods, extreme temperatures.</a:t>
            </a:r>
          </a:p>
          <a:p>
            <a:pPr lvl="1"/>
            <a:r>
              <a:rPr lang="en-US" dirty="0" smtClean="0"/>
              <a:t>Location-based timely warnings.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44237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C40D35-A784-BDD6-5A32-1038126AC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Refrences</a:t>
            </a:r>
            <a:endParaRPr lang="en-IN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D84A1E0-F226-A033-2775-A360818D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AA7F10C9-8558-91F0-B64E-157D3656E7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2142" y="2006646"/>
            <a:ext cx="1037912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SlideShare – Weather Forecasting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www.slideshare.net/slideshow/weather-forecasting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SlideTeam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Forecasting System Templates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www.slideteam.net/top-10-weather-forecasting-system-powerpoint-presentation-templates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Slidesgo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Weather Forecasting Presentation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slidesgo.com/theme/weather-forecasting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26347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9504" y="2667000"/>
            <a:ext cx="9601200" cy="4191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GB" sz="8800" dirty="0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33BA430-BAD9-FBE2-C508-F9B9BDB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Web Technologies Project PPT 2025-26 Odd Sem</a:t>
            </a:r>
          </a:p>
        </p:txBody>
      </p:sp>
    </p:spTree>
    <p:extLst>
      <p:ext uri="{BB962C8B-B14F-4D97-AF65-F5344CB8AC3E}">
        <p14:creationId xmlns:p14="http://schemas.microsoft.com/office/powerpoint/2010/main" xmlns="" val="3566345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rtical and Horizontal design templat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Vertical and horizontal design slides.potx" id="{7E307492-4344-40EC-954C-E30551E95991}" vid="{493C3130-E1FA-416B-8465-D41FAD56C1B7}"/>
    </a:ext>
  </a:extLst>
</a:theme>
</file>

<file path=ppt/theme/theme2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Vertical and horizontal design slides</Template>
  <TotalTime>441</TotalTime>
  <Words>890</Words>
  <Application>Microsoft Office PowerPoint</Application>
  <PresentationFormat>Custom</PresentationFormat>
  <Paragraphs>194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Vertical and Horizontal design template</vt:lpstr>
      <vt:lpstr>Weather App (BMICSE0555/BCSE0555/BCSEH0555)</vt:lpstr>
      <vt:lpstr>Index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            Expected output/Results</vt:lpstr>
      <vt:lpstr>Applications</vt:lpstr>
      <vt:lpstr>Future Enhancements</vt:lpstr>
      <vt:lpstr>Refrences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Exam Duty Allocation</dc:title>
  <dc:creator>Sudhanshu</dc:creator>
  <cp:lastModifiedBy>vaibh</cp:lastModifiedBy>
  <cp:revision>18</cp:revision>
  <dcterms:created xsi:type="dcterms:W3CDTF">2017-11-16T17:39:44Z</dcterms:created>
  <dcterms:modified xsi:type="dcterms:W3CDTF">2025-09-16T17:56:34Z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